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02920"/>
            <a:ext cx="21488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pptx_deck/assets/lo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6072"/>
            <a:ext cx="1965960" cy="461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INTERNACIONALIZACIÓN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Fabril S.A.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hacia España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4434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Gerenciales Internacionales para el Agro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Agronegocios · Universidad EAFIT / Zamorano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5257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GRUPO 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5705856"/>
            <a:ext cx="82296" cy="8229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" y="5623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Horacio Medal Picado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23360" y="5705856"/>
            <a:ext cx="82296" cy="8229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4" name="Text 11"/>
          <p:cNvSpPr/>
          <p:nvPr/>
        </p:nvSpPr>
        <p:spPr>
          <a:xfrm>
            <a:off x="4224528" y="5623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Zambrano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52360" y="5705856"/>
            <a:ext cx="82296" cy="8229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6" name="Text 13"/>
          <p:cNvSpPr/>
          <p:nvPr/>
        </p:nvSpPr>
        <p:spPr>
          <a:xfrm>
            <a:off x="7653528" y="5623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Fredy Valladares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6071616"/>
            <a:ext cx="82296" cy="8229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" y="5989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Chávez García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23360" y="6071616"/>
            <a:ext cx="82296" cy="8229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0" name="Text 17"/>
          <p:cNvSpPr/>
          <p:nvPr/>
        </p:nvSpPr>
        <p:spPr>
          <a:xfrm>
            <a:off x="4224528" y="5989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Granda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52360" y="6071616"/>
            <a:ext cx="82296" cy="8229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2" name="Text 19"/>
          <p:cNvSpPr/>
          <p:nvPr/>
        </p:nvSpPr>
        <p:spPr>
          <a:xfrm>
            <a:off x="7653528" y="5989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Caballero Madrid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la empresa y productos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es una empresa agroindustrial ecuatoriana fundada en 1968, con un modelo de integración vertical que controla su cadena de valor desde el cultivo hasta el producto terminado.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3776" y="2093976"/>
            <a:ext cx="4270248" cy="2450021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5" name="Image 0" descr="/home/claude/pptx_deck/assets/compa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4160520" cy="2340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80573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 Industrial Montecristi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37176" y="2093976"/>
            <a:ext cx="3172968" cy="2385058"/>
          </a:xfrm>
          <a:prstGeom prst="roundRect">
            <a:avLst>
              <a:gd name="adj" fmla="val 1917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8" name="Image 1" descr="/home/claude/pptx_deck/assets/prod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48840"/>
            <a:ext cx="3063240" cy="2275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2040" y="451561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aceites de marca propia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183880" y="2148840"/>
            <a:ext cx="3063240" cy="2395728"/>
          </a:xfrm>
          <a:prstGeom prst="roundRect">
            <a:avLst>
              <a:gd name="adj" fmla="val 2672"/>
            </a:avLst>
          </a:prstGeom>
          <a:solidFill>
            <a:srgbClr val="1F2A44"/>
          </a:solidFill>
          <a:ln/>
        </p:spPr>
      </p:sp>
      <p:sp>
        <p:nvSpPr>
          <p:cNvPr id="11" name="Text 7"/>
          <p:cNvSpPr/>
          <p:nvPr/>
        </p:nvSpPr>
        <p:spPr>
          <a:xfrm>
            <a:off x="841248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1968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412480" y="2770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fundación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4124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412480" y="3547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internacionales vigentes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41248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412480" y="4325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propias de consumo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051560" y="48828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del producto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051560" y="517550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propia (Sabrosón, La Favorita, Criollo, La Sabrosa) con RSPO, ISCC, orgánica BCS y Kosher OU — HS 1511.90 (aceites y manteca) y 1517.90 (margarinas)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80760" y="4937760"/>
            <a:ext cx="384048" cy="38404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2" name="Text 18"/>
          <p:cNvSpPr/>
          <p:nvPr/>
        </p:nvSpPr>
        <p:spPr>
          <a:xfrm>
            <a:off x="608076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583680" y="48828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competitiva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583680" y="517550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 Montecristi y extractoras en Esmeraldas y Santo Domingo, zona palmicultora clave de Ecuador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5806440"/>
            <a:ext cx="384048" cy="38404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6" name="Text 22"/>
          <p:cNvSpPr/>
          <p:nvPr/>
        </p:nvSpPr>
        <p:spPr>
          <a:xfrm>
            <a:off x="548640" y="5806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051560" y="57515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capacidad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1051560" y="604418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9001/14001, FSSC 22000, HACCP, BASC; adquirió Natural Habitats Americas (Palm Done Right) en 2023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080760" y="5806440"/>
            <a:ext cx="384048" cy="38404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30" name="Text 26"/>
          <p:cNvSpPr/>
          <p:nvPr/>
        </p:nvSpPr>
        <p:spPr>
          <a:xfrm>
            <a:off x="6080760" y="5806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583680" y="57515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organizacional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583680" y="604418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Innovación, sostenibilidad, integridad y liderazgo participativo, alineados con mercados globales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Horacio Medal Picado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EXPANSIÓN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complejidad económica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367528" cy="2562075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5" name="Image 0" descr="/home/claude/pptx_deck/assets/tre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257800" cy="2452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88539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exportó Ecuador en 2024? — Total US$38B (Atlas of Economic Complexity)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34456" y="1408176"/>
            <a:ext cx="5367528" cy="2583531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8" name="Image 1" descr="/home/claude/pptx_deck/assets/feas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63040"/>
            <a:ext cx="5257800" cy="2473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4009995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— Aceite de coco y palma (partida 1513, categoría más cercana a 1511)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4892040"/>
            <a:ext cx="10698480" cy="1051560"/>
          </a:xfrm>
          <a:prstGeom prst="roundRect">
            <a:avLst>
              <a:gd name="adj" fmla="val 6087"/>
            </a:avLst>
          </a:prstGeom>
          <a:solidFill>
            <a:srgbClr val="1F2A44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0.889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68680" y="5440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69748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0.654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697480" y="5440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2628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US$7.2B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26280" y="5440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mundial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46520" y="502920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 está cerca de dominar este producto oleaginoso, pero con baja diferenciación: refinación avanzada, certificación y trazabilidad son la vía para hacerlo menos replicable frente a Indonesia, Malasia o Colombia.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Andrea Zambrano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EXPANSIÓN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7S de McKinsey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00200" cy="365760"/>
          </a:xfrm>
          <a:prstGeom prst="roundRect">
            <a:avLst/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00846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0846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52851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2851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04857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4857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56863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6863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08869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08869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260874" y="1417320"/>
            <a:ext cx="1352006" cy="36576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60874" y="1417320"/>
            <a:ext cx="13520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1783080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1783080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Values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1783080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00846" y="178308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0846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52851" y="178308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2851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04857" y="1783080"/>
            <a:ext cx="1352006" cy="437083"/>
          </a:xfrm>
          <a:prstGeom prst="rect">
            <a:avLst/>
          </a:prstGeom>
          <a:solidFill>
            <a:srgbClr val="EAF6D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4857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56863" y="1783080"/>
            <a:ext cx="1352006" cy="437083"/>
          </a:xfrm>
          <a:prstGeom prst="rect">
            <a:avLst/>
          </a:prstGeom>
          <a:solidFill>
            <a:srgbClr val="EAF6D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6863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08869" y="178308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08869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260874" y="178308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60874" y="178308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2220163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2220163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48840" y="222016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500846" y="2220163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00846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52851" y="2220163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2851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04857" y="2220163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4857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556863" y="222016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6863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908869" y="2220163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08869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260874" y="2220163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60874" y="222016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2657246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2657246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48840" y="2657246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48840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500846" y="2657246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00846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852851" y="2657246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52851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204857" y="2657246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04857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556863" y="2657246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56863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908869" y="2657246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08869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10260874" y="2657246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60874" y="265724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48640" y="3094330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" y="3094330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148840" y="3094330"/>
            <a:ext cx="1352006" cy="437083"/>
          </a:xfrm>
          <a:prstGeom prst="rect">
            <a:avLst/>
          </a:prstGeom>
          <a:solidFill>
            <a:srgbClr val="EAF6D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48840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3500846" y="3094330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00846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4852851" y="309433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52851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6204857" y="3094330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04857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7556863" y="309433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56863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8908869" y="3094330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08869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10260874" y="3094330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260874" y="3094330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48640" y="3531413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1792" y="3531413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148840" y="3531413"/>
            <a:ext cx="1352006" cy="437083"/>
          </a:xfrm>
          <a:prstGeom prst="rect">
            <a:avLst/>
          </a:prstGeom>
          <a:solidFill>
            <a:srgbClr val="EAF6D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48840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3500846" y="353141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500846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4852851" y="353141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52851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204857" y="353141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04857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7556863" y="3531413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56863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8908869" y="353141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08869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10260874" y="3531413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260874" y="3531413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548640" y="3968496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1792" y="3968496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2148840" y="3968496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148840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3500846" y="3968496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500846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4852851" y="3968496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52851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6204857" y="3968496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04857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7556863" y="3968496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56863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8908869" y="3968496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908869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10260874" y="3968496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60874" y="3968496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548640" y="4405579"/>
            <a:ext cx="1600200" cy="437083"/>
          </a:xfrm>
          <a:prstGeom prst="rect">
            <a:avLst/>
          </a:prstGeom>
          <a:solidFill>
            <a:srgbClr val="F6F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1792" y="4405579"/>
            <a:ext cx="1490472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2148840" y="4405579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48840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20" name="Shape 118"/>
          <p:cNvSpPr/>
          <p:nvPr/>
        </p:nvSpPr>
        <p:spPr>
          <a:xfrm>
            <a:off x="3500846" y="4405579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500846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22" name="Shape 120"/>
          <p:cNvSpPr/>
          <p:nvPr/>
        </p:nvSpPr>
        <p:spPr>
          <a:xfrm>
            <a:off x="4852851" y="4405579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852851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6204857" y="4405579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04857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26" name="Shape 124"/>
          <p:cNvSpPr/>
          <p:nvPr/>
        </p:nvSpPr>
        <p:spPr>
          <a:xfrm>
            <a:off x="7556863" y="4405579"/>
            <a:ext cx="1352006" cy="437083"/>
          </a:xfrm>
          <a:prstGeom prst="rect">
            <a:avLst/>
          </a:prstGeom>
          <a:solidFill>
            <a:srgbClr val="FFF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556863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28" name="Shape 126"/>
          <p:cNvSpPr/>
          <p:nvPr/>
        </p:nvSpPr>
        <p:spPr>
          <a:xfrm>
            <a:off x="8908869" y="4405579"/>
            <a:ext cx="1352006" cy="437083"/>
          </a:xfrm>
          <a:prstGeom prst="rect">
            <a:avLst/>
          </a:prstGeom>
          <a:solidFill>
            <a:srgbClr val="FBEA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908869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400" dirty="0"/>
          </a:p>
        </p:txBody>
      </p:sp>
      <p:sp>
        <p:nvSpPr>
          <p:cNvPr id="130" name="Shape 128"/>
          <p:cNvSpPr/>
          <p:nvPr/>
        </p:nvSpPr>
        <p:spPr>
          <a:xfrm>
            <a:off x="10260874" y="4405579"/>
            <a:ext cx="1352006" cy="437083"/>
          </a:xfrm>
          <a:prstGeom prst="rect">
            <a:avLst/>
          </a:prstGeom>
          <a:solidFill>
            <a:srgbClr val="E9E9E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260874" y="4405579"/>
            <a:ext cx="1352006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2" name="Text 130"/>
          <p:cNvSpPr/>
          <p:nvPr/>
        </p:nvSpPr>
        <p:spPr>
          <a:xfrm>
            <a:off x="548640" y="493410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Shared Values · ST Strategy · SR Structure · SY Systems · SL Style · SF Staff · SK Skills   |   ✓ alineado  ~ parcial  ✘ no alineado  — diagonal (no evaluada)</a:t>
            </a:r>
            <a:endParaRPr lang="en-US" sz="980" dirty="0"/>
          </a:p>
        </p:txBody>
      </p:sp>
      <p:sp>
        <p:nvSpPr>
          <p:cNvPr id="133" name="Shape 131"/>
          <p:cNvSpPr/>
          <p:nvPr/>
        </p:nvSpPr>
        <p:spPr>
          <a:xfrm>
            <a:off x="548640" y="529986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F2A44"/>
          </a:solidFill>
          <a:ln/>
        </p:spPr>
      </p:sp>
      <p:sp>
        <p:nvSpPr>
          <p:cNvPr id="134" name="Text 132"/>
          <p:cNvSpPr/>
          <p:nvPr/>
        </p:nvSpPr>
        <p:spPr>
          <a:xfrm>
            <a:off x="777240" y="529986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y Skills concentran las mayores desalineaciones. Se recomienda crear una Gerencia de Negocios Internacionales que lidere la expansión, implemente inteligencia comercial y capacite al personal — sí se recomienda expandirse, con este ajuste previo.</a:t>
            </a:r>
            <a:endParaRPr lang="en-US" sz="1150" dirty="0"/>
          </a:p>
        </p:txBody>
      </p:sp>
      <p:sp>
        <p:nvSpPr>
          <p:cNvPr id="135" name="Text 133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Fredy Valladares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NUEVOS MERCADOS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del país y selección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1938528" cy="1212964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5" name="Image 0" descr="/home/claude/pptx_deck/assets/rank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828800" cy="11032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06040" y="1417320"/>
            <a:ext cx="5806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Potential Map (HS 1511.90) — Top 5 por rango combinado: China, Colombia, Italia, Rusia y España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8641080" y="1417320"/>
            <a:ext cx="2971800" cy="4892040"/>
          </a:xfrm>
          <a:prstGeom prst="roundRect">
            <a:avLst>
              <a:gd name="adj" fmla="val 2462"/>
            </a:avLst>
          </a:prstGeom>
          <a:solidFill>
            <a:srgbClr val="1F2A44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45920"/>
            <a:ext cx="24231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por rango combinado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(demanda + facilidad de comercio):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Colombia, Italia, Rusia y España.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lidera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selección final con arancel 0% (Acuerdo Multipartes UE), riesgo bajo (A+/A1) y relación comercial ya existente con Ecuador.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57716"/>
            <a:ext cx="2331720" cy="384048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2657716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(peso 7.14% c/u)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880360" y="2657716"/>
            <a:ext cx="1106424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7268" y="2703436"/>
            <a:ext cx="2926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87268" y="2703436"/>
            <a:ext cx="292608" cy="41148"/>
          </a:xfrm>
          <a:prstGeom prst="rect">
            <a:avLst/>
          </a:prstGeom>
          <a:solidFill>
            <a:srgbClr val="AA151B"/>
          </a:solidFill>
          <a:ln/>
        </p:spPr>
      </p:sp>
      <p:sp>
        <p:nvSpPr>
          <p:cNvPr id="14" name="Shape 11"/>
          <p:cNvSpPr/>
          <p:nvPr/>
        </p:nvSpPr>
        <p:spPr>
          <a:xfrm>
            <a:off x="3287268" y="2744584"/>
            <a:ext cx="292608" cy="82296"/>
          </a:xfrm>
          <a:prstGeom prst="rect">
            <a:avLst/>
          </a:prstGeom>
          <a:solidFill>
            <a:srgbClr val="F1BF00"/>
          </a:solidFill>
          <a:ln/>
        </p:spPr>
      </p:sp>
      <p:sp>
        <p:nvSpPr>
          <p:cNvPr id="15" name="Shape 12"/>
          <p:cNvSpPr/>
          <p:nvPr/>
        </p:nvSpPr>
        <p:spPr>
          <a:xfrm>
            <a:off x="3287268" y="2826880"/>
            <a:ext cx="292608" cy="41148"/>
          </a:xfrm>
          <a:prstGeom prst="rect">
            <a:avLst/>
          </a:prstGeom>
          <a:solidFill>
            <a:srgbClr val="AA151B"/>
          </a:solidFill>
          <a:ln/>
        </p:spPr>
      </p:sp>
      <p:sp>
        <p:nvSpPr>
          <p:cNvPr id="16" name="Text 13"/>
          <p:cNvSpPr/>
          <p:nvPr/>
        </p:nvSpPr>
        <p:spPr>
          <a:xfrm>
            <a:off x="2880360" y="2858884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3986784" y="2657716"/>
            <a:ext cx="1106424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93692" y="2703436"/>
            <a:ext cx="2926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93692" y="2703436"/>
            <a:ext cx="97536" cy="164592"/>
          </a:xfrm>
          <a:prstGeom prst="rect">
            <a:avLst/>
          </a:prstGeom>
          <a:solidFill>
            <a:srgbClr val="008C45"/>
          </a:solidFill>
          <a:ln/>
        </p:spPr>
      </p:sp>
      <p:sp>
        <p:nvSpPr>
          <p:cNvPr id="20" name="Shape 17"/>
          <p:cNvSpPr/>
          <p:nvPr/>
        </p:nvSpPr>
        <p:spPr>
          <a:xfrm>
            <a:off x="4491228" y="2703436"/>
            <a:ext cx="97536" cy="164592"/>
          </a:xfrm>
          <a:prstGeom prst="rect">
            <a:avLst/>
          </a:prstGeom>
          <a:solidFill>
            <a:srgbClr val="F4F5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588764" y="2703436"/>
            <a:ext cx="97536" cy="164592"/>
          </a:xfrm>
          <a:prstGeom prst="rect">
            <a:avLst/>
          </a:prstGeom>
          <a:solidFill>
            <a:srgbClr val="CD212A"/>
          </a:solidFill>
          <a:ln/>
        </p:spPr>
      </p:sp>
      <p:sp>
        <p:nvSpPr>
          <p:cNvPr id="22" name="Text 19"/>
          <p:cNvSpPr/>
          <p:nvPr/>
        </p:nvSpPr>
        <p:spPr>
          <a:xfrm>
            <a:off x="3986784" y="2858884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5093208" y="2657716"/>
            <a:ext cx="1106424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00116" y="2703436"/>
            <a:ext cx="2926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00116" y="2703436"/>
            <a:ext cx="292608" cy="82296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26" name="Shape 23"/>
          <p:cNvSpPr/>
          <p:nvPr/>
        </p:nvSpPr>
        <p:spPr>
          <a:xfrm>
            <a:off x="5500116" y="2785732"/>
            <a:ext cx="292608" cy="41148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27" name="Shape 24"/>
          <p:cNvSpPr/>
          <p:nvPr/>
        </p:nvSpPr>
        <p:spPr>
          <a:xfrm>
            <a:off x="5500116" y="2826880"/>
            <a:ext cx="292608" cy="4114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28" name="Text 25"/>
          <p:cNvSpPr/>
          <p:nvPr/>
        </p:nvSpPr>
        <p:spPr>
          <a:xfrm>
            <a:off x="5093208" y="2858884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6199632" y="2657716"/>
            <a:ext cx="1106424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06540" y="2703436"/>
            <a:ext cx="2926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06540" y="2703436"/>
            <a:ext cx="292608" cy="164592"/>
          </a:xfrm>
          <a:prstGeom prst="rect">
            <a:avLst/>
          </a:prstGeom>
          <a:solidFill>
            <a:srgbClr val="DE2910"/>
          </a:solidFill>
          <a:ln/>
        </p:spPr>
      </p:sp>
      <p:sp>
        <p:nvSpPr>
          <p:cNvPr id="32" name="Shape 29"/>
          <p:cNvSpPr/>
          <p:nvPr/>
        </p:nvSpPr>
        <p:spPr>
          <a:xfrm>
            <a:off x="6641653" y="2736355"/>
            <a:ext cx="64374" cy="57607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33" name="Text 30"/>
          <p:cNvSpPr/>
          <p:nvPr/>
        </p:nvSpPr>
        <p:spPr>
          <a:xfrm>
            <a:off x="6199632" y="2858884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7306056" y="2657716"/>
            <a:ext cx="1106424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12964" y="2703436"/>
            <a:ext cx="2926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12964" y="2703436"/>
            <a:ext cx="292608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7712964" y="2758300"/>
            <a:ext cx="292608" cy="54864"/>
          </a:xfrm>
          <a:prstGeom prst="rect">
            <a:avLst/>
          </a:prstGeom>
          <a:solidFill>
            <a:srgbClr val="0039A6"/>
          </a:solidFill>
          <a:ln/>
        </p:spPr>
      </p:sp>
      <p:sp>
        <p:nvSpPr>
          <p:cNvPr id="38" name="Shape 35"/>
          <p:cNvSpPr/>
          <p:nvPr/>
        </p:nvSpPr>
        <p:spPr>
          <a:xfrm>
            <a:off x="7712964" y="2813164"/>
            <a:ext cx="292608" cy="54864"/>
          </a:xfrm>
          <a:prstGeom prst="rect">
            <a:avLst/>
          </a:prstGeom>
          <a:solidFill>
            <a:srgbClr val="D52B1E"/>
          </a:solidFill>
          <a:ln/>
        </p:spPr>
      </p:sp>
      <p:sp>
        <p:nvSpPr>
          <p:cNvPr id="39" name="Text 36"/>
          <p:cNvSpPr/>
          <p:nvPr/>
        </p:nvSpPr>
        <p:spPr>
          <a:xfrm>
            <a:off x="7306056" y="2858884"/>
            <a:ext cx="1106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Rusia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548640" y="3041764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" y="3041764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Importaciones del producto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2880360" y="304176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880360" y="304176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44" name="Shape 41"/>
          <p:cNvSpPr/>
          <p:nvPr/>
        </p:nvSpPr>
        <p:spPr>
          <a:xfrm>
            <a:off x="3986784" y="304176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986784" y="304176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46" name="Shape 43"/>
          <p:cNvSpPr/>
          <p:nvPr/>
        </p:nvSpPr>
        <p:spPr>
          <a:xfrm>
            <a:off x="5093208" y="304176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93208" y="304176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48" name="Shape 45"/>
          <p:cNvSpPr/>
          <p:nvPr/>
        </p:nvSpPr>
        <p:spPr>
          <a:xfrm>
            <a:off x="6199632" y="304176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99632" y="304176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50" name="Shape 47"/>
          <p:cNvSpPr/>
          <p:nvPr/>
        </p:nvSpPr>
        <p:spPr>
          <a:xfrm>
            <a:off x="7306056" y="304176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06056" y="304176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52" name="Shape 49"/>
          <p:cNvSpPr/>
          <p:nvPr/>
        </p:nvSpPr>
        <p:spPr>
          <a:xfrm>
            <a:off x="548640" y="3253905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21792" y="3253905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importaciones</a:t>
            </a:r>
            <a:endParaRPr lang="en-US" sz="880" dirty="0"/>
          </a:p>
        </p:txBody>
      </p:sp>
      <p:sp>
        <p:nvSpPr>
          <p:cNvPr id="54" name="Shape 51"/>
          <p:cNvSpPr/>
          <p:nvPr/>
        </p:nvSpPr>
        <p:spPr>
          <a:xfrm>
            <a:off x="2880360" y="325390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880360" y="325390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56" name="Shape 53"/>
          <p:cNvSpPr/>
          <p:nvPr/>
        </p:nvSpPr>
        <p:spPr>
          <a:xfrm>
            <a:off x="3986784" y="325390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986784" y="325390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58" name="Shape 55"/>
          <p:cNvSpPr/>
          <p:nvPr/>
        </p:nvSpPr>
        <p:spPr>
          <a:xfrm>
            <a:off x="5093208" y="325390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93208" y="325390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60" name="Shape 57"/>
          <p:cNvSpPr/>
          <p:nvPr/>
        </p:nvSpPr>
        <p:spPr>
          <a:xfrm>
            <a:off x="6199632" y="325390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199632" y="325390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2" name="Shape 59"/>
          <p:cNvSpPr/>
          <p:nvPr/>
        </p:nvSpPr>
        <p:spPr>
          <a:xfrm>
            <a:off x="7306056" y="325390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306056" y="325390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64" name="Shape 61"/>
          <p:cNvSpPr/>
          <p:nvPr/>
        </p:nvSpPr>
        <p:spPr>
          <a:xfrm>
            <a:off x="548640" y="3466046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21792" y="3466046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importaciones</a:t>
            </a:r>
            <a:endParaRPr lang="en-US" sz="880" dirty="0"/>
          </a:p>
        </p:txBody>
      </p:sp>
      <p:sp>
        <p:nvSpPr>
          <p:cNvPr id="66" name="Shape 63"/>
          <p:cNvSpPr/>
          <p:nvPr/>
        </p:nvSpPr>
        <p:spPr>
          <a:xfrm>
            <a:off x="2880360" y="3466046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880360" y="3466046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68" name="Shape 65"/>
          <p:cNvSpPr/>
          <p:nvPr/>
        </p:nvSpPr>
        <p:spPr>
          <a:xfrm>
            <a:off x="3986784" y="3466046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986784" y="3466046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70" name="Shape 67"/>
          <p:cNvSpPr/>
          <p:nvPr/>
        </p:nvSpPr>
        <p:spPr>
          <a:xfrm>
            <a:off x="5093208" y="3466046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093208" y="3466046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72" name="Shape 69"/>
          <p:cNvSpPr/>
          <p:nvPr/>
        </p:nvSpPr>
        <p:spPr>
          <a:xfrm>
            <a:off x="6199632" y="3466046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99632" y="3466046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4" name="Shape 71"/>
          <p:cNvSpPr/>
          <p:nvPr/>
        </p:nvSpPr>
        <p:spPr>
          <a:xfrm>
            <a:off x="7306056" y="3466046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306056" y="3466046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76" name="Shape 73"/>
          <p:cNvSpPr/>
          <p:nvPr/>
        </p:nvSpPr>
        <p:spPr>
          <a:xfrm>
            <a:off x="548640" y="3678187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21792" y="3678187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 ecuatorianas</a:t>
            </a:r>
            <a:endParaRPr lang="en-US" sz="880" dirty="0"/>
          </a:p>
        </p:txBody>
      </p:sp>
      <p:sp>
        <p:nvSpPr>
          <p:cNvPr id="78" name="Shape 75"/>
          <p:cNvSpPr/>
          <p:nvPr/>
        </p:nvSpPr>
        <p:spPr>
          <a:xfrm>
            <a:off x="2880360" y="3678187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880360" y="367818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80" name="Shape 77"/>
          <p:cNvSpPr/>
          <p:nvPr/>
        </p:nvSpPr>
        <p:spPr>
          <a:xfrm>
            <a:off x="3986784" y="3678187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986784" y="367818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82" name="Shape 79"/>
          <p:cNvSpPr/>
          <p:nvPr/>
        </p:nvSpPr>
        <p:spPr>
          <a:xfrm>
            <a:off x="5093208" y="3678187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093208" y="367818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84" name="Shape 81"/>
          <p:cNvSpPr/>
          <p:nvPr/>
        </p:nvSpPr>
        <p:spPr>
          <a:xfrm>
            <a:off x="6199632" y="3678187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199632" y="367818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86" name="Shape 83"/>
          <p:cNvSpPr/>
          <p:nvPr/>
        </p:nvSpPr>
        <p:spPr>
          <a:xfrm>
            <a:off x="7306056" y="3678187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306056" y="367818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88" name="Shape 85"/>
          <p:cNvSpPr/>
          <p:nvPr/>
        </p:nvSpPr>
        <p:spPr>
          <a:xfrm>
            <a:off x="548640" y="3890327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621792" y="3890327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exportaciones EC</a:t>
            </a:r>
            <a:endParaRPr lang="en-US" sz="880" dirty="0"/>
          </a:p>
        </p:txBody>
      </p:sp>
      <p:sp>
        <p:nvSpPr>
          <p:cNvPr id="90" name="Shape 87"/>
          <p:cNvSpPr/>
          <p:nvPr/>
        </p:nvSpPr>
        <p:spPr>
          <a:xfrm>
            <a:off x="2880360" y="3890327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880360" y="389032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92" name="Shape 89"/>
          <p:cNvSpPr/>
          <p:nvPr/>
        </p:nvSpPr>
        <p:spPr>
          <a:xfrm>
            <a:off x="3986784" y="3890327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986784" y="389032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4" name="Shape 91"/>
          <p:cNvSpPr/>
          <p:nvPr/>
        </p:nvSpPr>
        <p:spPr>
          <a:xfrm>
            <a:off x="5093208" y="3890327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93208" y="389032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96" name="Shape 93"/>
          <p:cNvSpPr/>
          <p:nvPr/>
        </p:nvSpPr>
        <p:spPr>
          <a:xfrm>
            <a:off x="6199632" y="3890327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99632" y="389032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8" name="Shape 95"/>
          <p:cNvSpPr/>
          <p:nvPr/>
        </p:nvSpPr>
        <p:spPr>
          <a:xfrm>
            <a:off x="7306056" y="3890327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306056" y="3890327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00" name="Shape 97"/>
          <p:cNvSpPr/>
          <p:nvPr/>
        </p:nvSpPr>
        <p:spPr>
          <a:xfrm>
            <a:off x="548640" y="4102468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621792" y="4102468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exportaciones EC</a:t>
            </a:r>
            <a:endParaRPr lang="en-US" sz="880" dirty="0"/>
          </a:p>
        </p:txBody>
      </p:sp>
      <p:sp>
        <p:nvSpPr>
          <p:cNvPr id="102" name="Shape 99"/>
          <p:cNvSpPr/>
          <p:nvPr/>
        </p:nvSpPr>
        <p:spPr>
          <a:xfrm>
            <a:off x="2880360" y="4102468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2880360" y="4102468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04" name="Shape 101"/>
          <p:cNvSpPr/>
          <p:nvPr/>
        </p:nvSpPr>
        <p:spPr>
          <a:xfrm>
            <a:off x="3986784" y="4102468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3986784" y="4102468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06" name="Shape 103"/>
          <p:cNvSpPr/>
          <p:nvPr/>
        </p:nvSpPr>
        <p:spPr>
          <a:xfrm>
            <a:off x="5093208" y="4102468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093208" y="4102468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08" name="Shape 105"/>
          <p:cNvSpPr/>
          <p:nvPr/>
        </p:nvSpPr>
        <p:spPr>
          <a:xfrm>
            <a:off x="6199632" y="4102468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199632" y="4102468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10" name="Shape 107"/>
          <p:cNvSpPr/>
          <p:nvPr/>
        </p:nvSpPr>
        <p:spPr>
          <a:xfrm>
            <a:off x="7306056" y="4102468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7306056" y="4102468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12" name="Shape 109"/>
          <p:cNvSpPr/>
          <p:nvPr/>
        </p:nvSpPr>
        <p:spPr>
          <a:xfrm>
            <a:off x="548640" y="4314609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621792" y="4314609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 aplicable a Ecuador</a:t>
            </a:r>
            <a:endParaRPr lang="en-US" sz="880" dirty="0"/>
          </a:p>
        </p:txBody>
      </p:sp>
      <p:sp>
        <p:nvSpPr>
          <p:cNvPr id="114" name="Shape 111"/>
          <p:cNvSpPr/>
          <p:nvPr/>
        </p:nvSpPr>
        <p:spPr>
          <a:xfrm>
            <a:off x="2880360" y="4314609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2880360" y="4314609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16" name="Shape 113"/>
          <p:cNvSpPr/>
          <p:nvPr/>
        </p:nvSpPr>
        <p:spPr>
          <a:xfrm>
            <a:off x="3986784" y="4314609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3986784" y="4314609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18" name="Shape 115"/>
          <p:cNvSpPr/>
          <p:nvPr/>
        </p:nvSpPr>
        <p:spPr>
          <a:xfrm>
            <a:off x="5093208" y="4314609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5093208" y="4314609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20" name="Shape 117"/>
          <p:cNvSpPr/>
          <p:nvPr/>
        </p:nvSpPr>
        <p:spPr>
          <a:xfrm>
            <a:off x="6199632" y="4314609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99632" y="4314609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22" name="Shape 119"/>
          <p:cNvSpPr/>
          <p:nvPr/>
        </p:nvSpPr>
        <p:spPr>
          <a:xfrm>
            <a:off x="7306056" y="4314609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7306056" y="4314609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4" name="Shape 121"/>
          <p:cNvSpPr/>
          <p:nvPr/>
        </p:nvSpPr>
        <p:spPr>
          <a:xfrm>
            <a:off x="548640" y="4526750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621792" y="4526750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técnicas</a:t>
            </a:r>
            <a:endParaRPr lang="en-US" sz="880" dirty="0"/>
          </a:p>
        </p:txBody>
      </p:sp>
      <p:sp>
        <p:nvSpPr>
          <p:cNvPr id="126" name="Shape 123"/>
          <p:cNvSpPr/>
          <p:nvPr/>
        </p:nvSpPr>
        <p:spPr>
          <a:xfrm>
            <a:off x="2880360" y="4526750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2880360" y="4526750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8" name="Shape 125"/>
          <p:cNvSpPr/>
          <p:nvPr/>
        </p:nvSpPr>
        <p:spPr>
          <a:xfrm>
            <a:off x="3986784" y="4526750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986784" y="4526750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0" name="Shape 127"/>
          <p:cNvSpPr/>
          <p:nvPr/>
        </p:nvSpPr>
        <p:spPr>
          <a:xfrm>
            <a:off x="5093208" y="4526750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5093208" y="4526750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32" name="Shape 129"/>
          <p:cNvSpPr/>
          <p:nvPr/>
        </p:nvSpPr>
        <p:spPr>
          <a:xfrm>
            <a:off x="6199632" y="4526750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6199632" y="4526750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34" name="Shape 131"/>
          <p:cNvSpPr/>
          <p:nvPr/>
        </p:nvSpPr>
        <p:spPr>
          <a:xfrm>
            <a:off x="7306056" y="4526750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7306056" y="4526750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36" name="Shape 133"/>
          <p:cNvSpPr/>
          <p:nvPr/>
        </p:nvSpPr>
        <p:spPr>
          <a:xfrm>
            <a:off x="548640" y="4738891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21792" y="4738891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/ logística</a:t>
            </a:r>
            <a:endParaRPr lang="en-US" sz="880" dirty="0"/>
          </a:p>
        </p:txBody>
      </p:sp>
      <p:sp>
        <p:nvSpPr>
          <p:cNvPr id="138" name="Shape 135"/>
          <p:cNvSpPr/>
          <p:nvPr/>
        </p:nvSpPr>
        <p:spPr>
          <a:xfrm>
            <a:off x="2880360" y="4738891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2880360" y="473889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40" name="Shape 137"/>
          <p:cNvSpPr/>
          <p:nvPr/>
        </p:nvSpPr>
        <p:spPr>
          <a:xfrm>
            <a:off x="3986784" y="4738891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3986784" y="473889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42" name="Shape 139"/>
          <p:cNvSpPr/>
          <p:nvPr/>
        </p:nvSpPr>
        <p:spPr>
          <a:xfrm>
            <a:off x="5093208" y="4738891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5093208" y="473889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44" name="Shape 141"/>
          <p:cNvSpPr/>
          <p:nvPr/>
        </p:nvSpPr>
        <p:spPr>
          <a:xfrm>
            <a:off x="6199632" y="4738891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6199632" y="473889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46" name="Shape 143"/>
          <p:cNvSpPr/>
          <p:nvPr/>
        </p:nvSpPr>
        <p:spPr>
          <a:xfrm>
            <a:off x="7306056" y="4738891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7306056" y="473889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48" name="Shape 145"/>
          <p:cNvSpPr/>
          <p:nvPr/>
        </p:nvSpPr>
        <p:spPr>
          <a:xfrm>
            <a:off x="548640" y="4951031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621792" y="4951031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</a:t>
            </a:r>
            <a:endParaRPr lang="en-US" sz="880" dirty="0"/>
          </a:p>
        </p:txBody>
      </p:sp>
      <p:sp>
        <p:nvSpPr>
          <p:cNvPr id="150" name="Shape 147"/>
          <p:cNvSpPr/>
          <p:nvPr/>
        </p:nvSpPr>
        <p:spPr>
          <a:xfrm>
            <a:off x="2880360" y="4951031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2880360" y="495103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52" name="Shape 149"/>
          <p:cNvSpPr/>
          <p:nvPr/>
        </p:nvSpPr>
        <p:spPr>
          <a:xfrm>
            <a:off x="3986784" y="4951031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986784" y="495103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4" name="Shape 151"/>
          <p:cNvSpPr/>
          <p:nvPr/>
        </p:nvSpPr>
        <p:spPr>
          <a:xfrm>
            <a:off x="5093208" y="4951031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5093208" y="495103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56" name="Shape 153"/>
          <p:cNvSpPr/>
          <p:nvPr/>
        </p:nvSpPr>
        <p:spPr>
          <a:xfrm>
            <a:off x="6199632" y="4951031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6199632" y="495103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58" name="Shape 155"/>
          <p:cNvSpPr/>
          <p:nvPr/>
        </p:nvSpPr>
        <p:spPr>
          <a:xfrm>
            <a:off x="7306056" y="4951031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7306056" y="4951031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60" name="Shape 157"/>
          <p:cNvSpPr/>
          <p:nvPr/>
        </p:nvSpPr>
        <p:spPr>
          <a:xfrm>
            <a:off x="548640" y="5163172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621792" y="5163172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per cápita</a:t>
            </a:r>
            <a:endParaRPr lang="en-US" sz="880" dirty="0"/>
          </a:p>
        </p:txBody>
      </p:sp>
      <p:sp>
        <p:nvSpPr>
          <p:cNvPr id="162" name="Shape 159"/>
          <p:cNvSpPr/>
          <p:nvPr/>
        </p:nvSpPr>
        <p:spPr>
          <a:xfrm>
            <a:off x="2880360" y="5163172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2880360" y="5163172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64" name="Shape 161"/>
          <p:cNvSpPr/>
          <p:nvPr/>
        </p:nvSpPr>
        <p:spPr>
          <a:xfrm>
            <a:off x="3986784" y="5163172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3986784" y="5163172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66" name="Shape 163"/>
          <p:cNvSpPr/>
          <p:nvPr/>
        </p:nvSpPr>
        <p:spPr>
          <a:xfrm>
            <a:off x="5093208" y="5163172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093208" y="5163172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68" name="Shape 165"/>
          <p:cNvSpPr/>
          <p:nvPr/>
        </p:nvSpPr>
        <p:spPr>
          <a:xfrm>
            <a:off x="6199632" y="5163172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6199632" y="5163172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70" name="Shape 167"/>
          <p:cNvSpPr/>
          <p:nvPr/>
        </p:nvSpPr>
        <p:spPr>
          <a:xfrm>
            <a:off x="7306056" y="5163172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7306056" y="5163172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72" name="Shape 169"/>
          <p:cNvSpPr/>
          <p:nvPr/>
        </p:nvSpPr>
        <p:spPr>
          <a:xfrm>
            <a:off x="548640" y="5375313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621792" y="5375313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</a:t>
            </a:r>
            <a:endParaRPr lang="en-US" sz="880" dirty="0"/>
          </a:p>
        </p:txBody>
      </p:sp>
      <p:sp>
        <p:nvSpPr>
          <p:cNvPr id="174" name="Shape 171"/>
          <p:cNvSpPr/>
          <p:nvPr/>
        </p:nvSpPr>
        <p:spPr>
          <a:xfrm>
            <a:off x="2880360" y="5375313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2880360" y="5375313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76" name="Shape 173"/>
          <p:cNvSpPr/>
          <p:nvPr/>
        </p:nvSpPr>
        <p:spPr>
          <a:xfrm>
            <a:off x="3986784" y="5375313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3986784" y="5375313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78" name="Shape 175"/>
          <p:cNvSpPr/>
          <p:nvPr/>
        </p:nvSpPr>
        <p:spPr>
          <a:xfrm>
            <a:off x="5093208" y="5375313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093208" y="5375313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80" name="Shape 177"/>
          <p:cNvSpPr/>
          <p:nvPr/>
        </p:nvSpPr>
        <p:spPr>
          <a:xfrm>
            <a:off x="6199632" y="5375313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6199632" y="5375313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82" name="Shape 179"/>
          <p:cNvSpPr/>
          <p:nvPr/>
        </p:nvSpPr>
        <p:spPr>
          <a:xfrm>
            <a:off x="7306056" y="5375313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7306056" y="5375313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84" name="Shape 181"/>
          <p:cNvSpPr/>
          <p:nvPr/>
        </p:nvSpPr>
        <p:spPr>
          <a:xfrm>
            <a:off x="548640" y="5587454"/>
            <a:ext cx="2331720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621792" y="5587454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Desempleo</a:t>
            </a:r>
            <a:endParaRPr lang="en-US" sz="880" dirty="0"/>
          </a:p>
        </p:txBody>
      </p:sp>
      <p:sp>
        <p:nvSpPr>
          <p:cNvPr id="186" name="Shape 183"/>
          <p:cNvSpPr/>
          <p:nvPr/>
        </p:nvSpPr>
        <p:spPr>
          <a:xfrm>
            <a:off x="2880360" y="558745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2880360" y="558745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88" name="Shape 185"/>
          <p:cNvSpPr/>
          <p:nvPr/>
        </p:nvSpPr>
        <p:spPr>
          <a:xfrm>
            <a:off x="3986784" y="558745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3986784" y="558745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90" name="Shape 187"/>
          <p:cNvSpPr/>
          <p:nvPr/>
        </p:nvSpPr>
        <p:spPr>
          <a:xfrm>
            <a:off x="5093208" y="558745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093208" y="558745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92" name="Shape 189"/>
          <p:cNvSpPr/>
          <p:nvPr/>
        </p:nvSpPr>
        <p:spPr>
          <a:xfrm>
            <a:off x="6199632" y="558745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6199632" y="558745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94" name="Shape 191"/>
          <p:cNvSpPr/>
          <p:nvPr/>
        </p:nvSpPr>
        <p:spPr>
          <a:xfrm>
            <a:off x="7306056" y="5587454"/>
            <a:ext cx="1106424" cy="212141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7306056" y="5587454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96" name="Shape 193"/>
          <p:cNvSpPr/>
          <p:nvPr/>
        </p:nvSpPr>
        <p:spPr>
          <a:xfrm>
            <a:off x="548640" y="5799595"/>
            <a:ext cx="2331720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621792" y="5799595"/>
            <a:ext cx="2221992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gobierno / riesgo</a:t>
            </a:r>
            <a:endParaRPr lang="en-US" sz="880" dirty="0"/>
          </a:p>
        </p:txBody>
      </p:sp>
      <p:sp>
        <p:nvSpPr>
          <p:cNvPr id="198" name="Shape 195"/>
          <p:cNvSpPr/>
          <p:nvPr/>
        </p:nvSpPr>
        <p:spPr>
          <a:xfrm>
            <a:off x="2880360" y="579959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2880360" y="579959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200" name="Shape 197"/>
          <p:cNvSpPr/>
          <p:nvPr/>
        </p:nvSpPr>
        <p:spPr>
          <a:xfrm>
            <a:off x="3986784" y="579959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3986784" y="579959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02" name="Shape 199"/>
          <p:cNvSpPr/>
          <p:nvPr/>
        </p:nvSpPr>
        <p:spPr>
          <a:xfrm>
            <a:off x="5093208" y="579959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5093208" y="579959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04" name="Shape 201"/>
          <p:cNvSpPr/>
          <p:nvPr/>
        </p:nvSpPr>
        <p:spPr>
          <a:xfrm>
            <a:off x="6199632" y="579959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6199632" y="579959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06" name="Shape 203"/>
          <p:cNvSpPr/>
          <p:nvPr/>
        </p:nvSpPr>
        <p:spPr>
          <a:xfrm>
            <a:off x="7306056" y="5799595"/>
            <a:ext cx="1106424" cy="212141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7306056" y="5799595"/>
            <a:ext cx="1106424" cy="212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208" name="Shape 205"/>
          <p:cNvSpPr/>
          <p:nvPr/>
        </p:nvSpPr>
        <p:spPr>
          <a:xfrm>
            <a:off x="548640" y="6011735"/>
            <a:ext cx="2331720" cy="31089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09" name="Text 206"/>
          <p:cNvSpPr/>
          <p:nvPr/>
        </p:nvSpPr>
        <p:spPr>
          <a:xfrm>
            <a:off x="621792" y="6011735"/>
            <a:ext cx="2221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(sobre 5.0)</a:t>
            </a:r>
            <a:endParaRPr lang="en-US" sz="1030" dirty="0"/>
          </a:p>
        </p:txBody>
      </p:sp>
      <p:sp>
        <p:nvSpPr>
          <p:cNvPr id="210" name="Shape 207"/>
          <p:cNvSpPr/>
          <p:nvPr/>
        </p:nvSpPr>
        <p:spPr>
          <a:xfrm>
            <a:off x="2880360" y="6011735"/>
            <a:ext cx="1106424" cy="310896"/>
          </a:xfrm>
          <a:prstGeom prst="rect">
            <a:avLst/>
          </a:prstGeom>
          <a:solidFill>
            <a:srgbClr val="8DC63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2880360" y="6011735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3.64</a:t>
            </a:r>
            <a:endParaRPr lang="en-US" sz="1100" dirty="0"/>
          </a:p>
        </p:txBody>
      </p:sp>
      <p:sp>
        <p:nvSpPr>
          <p:cNvPr id="212" name="Shape 209"/>
          <p:cNvSpPr/>
          <p:nvPr/>
        </p:nvSpPr>
        <p:spPr>
          <a:xfrm>
            <a:off x="3986784" y="6011735"/>
            <a:ext cx="1106424" cy="310896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3986784" y="6011735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3.57</a:t>
            </a:r>
            <a:endParaRPr lang="en-US" sz="1100" dirty="0"/>
          </a:p>
        </p:txBody>
      </p:sp>
      <p:sp>
        <p:nvSpPr>
          <p:cNvPr id="214" name="Shape 211"/>
          <p:cNvSpPr/>
          <p:nvPr/>
        </p:nvSpPr>
        <p:spPr>
          <a:xfrm>
            <a:off x="5093208" y="6011735"/>
            <a:ext cx="1106424" cy="310896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5093208" y="6011735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</a:t>
            </a:r>
            <a:endParaRPr lang="en-US" sz="1100" dirty="0"/>
          </a:p>
        </p:txBody>
      </p:sp>
      <p:sp>
        <p:nvSpPr>
          <p:cNvPr id="216" name="Shape 213"/>
          <p:cNvSpPr/>
          <p:nvPr/>
        </p:nvSpPr>
        <p:spPr>
          <a:xfrm>
            <a:off x="6199632" y="6011735"/>
            <a:ext cx="1106424" cy="310896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6199632" y="6011735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</a:t>
            </a:r>
            <a:endParaRPr lang="en-US" sz="1100" dirty="0"/>
          </a:p>
        </p:txBody>
      </p:sp>
      <p:sp>
        <p:nvSpPr>
          <p:cNvPr id="218" name="Shape 215"/>
          <p:cNvSpPr/>
          <p:nvPr/>
        </p:nvSpPr>
        <p:spPr>
          <a:xfrm>
            <a:off x="7306056" y="6011735"/>
            <a:ext cx="1106424" cy="310896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7306056" y="6011735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</a:t>
            </a:r>
            <a:endParaRPr lang="en-US" sz="1100" dirty="0"/>
          </a:p>
        </p:txBody>
      </p:sp>
      <p:sp>
        <p:nvSpPr>
          <p:cNvPr id="220" name="Text 217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Bryan Chávez García</a:t>
            </a:r>
            <a:endParaRPr lang="en-US" sz="950" dirty="0"/>
          </a:p>
        </p:txBody>
      </p:sp>
      <p:sp>
        <p:nvSpPr>
          <p:cNvPr id="221" name="Text 2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NUEVOS MERCADOS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PESTEL — España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6F7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420624" cy="42062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55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 0% depende del Acuerdo UE, no del gobierno de turno — amenaza baja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6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1755648"/>
            <a:ext cx="420624" cy="42062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755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233172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~2.0% (2026) y buen poder adquisitivo; desempleo alto (10.8%) no afecta al segmento B2B/retail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6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7888" y="1755648"/>
            <a:ext cx="420624" cy="42062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755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233172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Estigma del aceite de palma por deforestación, compensado por certificación RSPO ya vigente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6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904488"/>
            <a:ext cx="420624" cy="42062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48056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UE exige trazabilidad digital con geolocalización — oportunidad si ya está lista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6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498848" y="3904488"/>
            <a:ext cx="420624" cy="42062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8848" y="448056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EUDR (UE 2023/1115) entra en vigor el 30 dic. 2026 para grandes operadores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6F7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247888" y="3904488"/>
            <a:ext cx="420624" cy="42062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23960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47888" y="448056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EFSA y etiquetado UE, ya cubiertos en gran parte por ISO 9001 y FSSC 22000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Sergio Granda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MÉTODOS DE ENTRADA, CANALES Y ESTRATEGIA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método de entrada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41080" y="1417320"/>
            <a:ext cx="2971800" cy="4892040"/>
          </a:xfrm>
          <a:prstGeom prst="roundRect">
            <a:avLst>
              <a:gd name="adj" fmla="val 2462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8915400" y="1691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directa — 95/110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15400" y="2331720"/>
            <a:ext cx="24231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Protege la marca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aceites, mantecas y margarinas ya envasados y etiquetados como propios.
</a:t>
            </a:r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Captura íntegro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arancel 0% del Acuerdo Multipartes Ecuador–UE.
</a:t>
            </a:r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Conserva calidad y trazabilidad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exigidas por el Reglamento EUDR.
</a:t>
            </a:r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Cuesta menos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Joint Venture o una IED, sin inmovilizar capital en Europa.
</a:t>
            </a:r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Franquicias y licencias </a:t>
            </a:r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descartadas: ceden marca y fabricación a un tercero.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200400" cy="4114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173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(escala 0–10)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417320"/>
            <a:ext cx="1165860" cy="41148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417320"/>
            <a:ext cx="11658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Directa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14900" y="1417320"/>
            <a:ext cx="1165860" cy="41148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4900" y="1417320"/>
            <a:ext cx="11658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Indirecta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1165860" cy="41148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417320"/>
            <a:ext cx="11658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Venture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46620" y="1417320"/>
            <a:ext cx="1165860" cy="411480"/>
          </a:xfrm>
          <a:prstGeom prst="rect">
            <a:avLst/>
          </a:prstGeom>
          <a:solidFill>
            <a:srgbClr val="1F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6620" y="1417320"/>
            <a:ext cx="11658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1828800"/>
            <a:ext cx="3200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18288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entrada al nuevo mercado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749040" y="18288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8288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4900" y="18288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4900" y="18288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8288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8288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46620" y="18288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6620" y="18288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194560"/>
            <a:ext cx="320040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1945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749040" y="219456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1945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4900" y="219456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4900" y="21945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219456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1945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46620" y="219456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6620" y="21945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2560320"/>
            <a:ext cx="3200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256032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riesgos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3749040" y="256032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5603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14900" y="256032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4900" y="25603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80760" y="256032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25603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46620" y="256032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6620" y="25603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2926080"/>
            <a:ext cx="320040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292608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aranceles e impuestos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3749040" y="292608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29260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14900" y="292608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4900" y="29260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080760" y="292608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29260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46620" y="292608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46620" y="29260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3291840"/>
            <a:ext cx="3200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329184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operaciones (aduanas, transporte)</a:t>
            </a:r>
            <a:endParaRPr lang="en-US" sz="1030" dirty="0"/>
          </a:p>
        </p:txBody>
      </p:sp>
      <p:sp>
        <p:nvSpPr>
          <p:cNvPr id="59" name="Shape 57"/>
          <p:cNvSpPr/>
          <p:nvPr/>
        </p:nvSpPr>
        <p:spPr>
          <a:xfrm>
            <a:off x="3749040" y="329184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32918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914900" y="329184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4900" y="32918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80760" y="329184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32918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46620" y="329184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46620" y="32918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48640" y="3657600"/>
            <a:ext cx="320040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" y="36576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 ganancias</a:t>
            </a:r>
            <a:endParaRPr lang="en-US" sz="1030" dirty="0"/>
          </a:p>
        </p:txBody>
      </p:sp>
      <p:sp>
        <p:nvSpPr>
          <p:cNvPr id="69" name="Shape 67"/>
          <p:cNvSpPr/>
          <p:nvPr/>
        </p:nvSpPr>
        <p:spPr>
          <a:xfrm>
            <a:off x="3749040" y="365760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6576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914900" y="365760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4900" y="36576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80760" y="365760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0760" y="36576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246620" y="365760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46620" y="36576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48640" y="4023360"/>
            <a:ext cx="3200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" y="40233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terceros</a:t>
            </a:r>
            <a:endParaRPr lang="en-US" sz="1030" dirty="0"/>
          </a:p>
        </p:txBody>
      </p:sp>
      <p:sp>
        <p:nvSpPr>
          <p:cNvPr id="79" name="Shape 77"/>
          <p:cNvSpPr/>
          <p:nvPr/>
        </p:nvSpPr>
        <p:spPr>
          <a:xfrm>
            <a:off x="3749040" y="402336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49040" y="40233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914900" y="402336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4900" y="40233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080760" y="402336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80760" y="40233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246620" y="402336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46620" y="402336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48640" y="4389120"/>
            <a:ext cx="320040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" y="438912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con el cliente</a:t>
            </a:r>
            <a:endParaRPr lang="en-US" sz="1030" dirty="0"/>
          </a:p>
        </p:txBody>
      </p:sp>
      <p:sp>
        <p:nvSpPr>
          <p:cNvPr id="89" name="Shape 87"/>
          <p:cNvSpPr/>
          <p:nvPr/>
        </p:nvSpPr>
        <p:spPr>
          <a:xfrm>
            <a:off x="3749040" y="438912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49040" y="43891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914900" y="438912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14900" y="43891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080760" y="438912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80760" y="43891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46620" y="438912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46620" y="438912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48640" y="4754880"/>
            <a:ext cx="3200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1792" y="475488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del reconocimiento global</a:t>
            </a:r>
            <a:endParaRPr lang="en-US" sz="1030" dirty="0"/>
          </a:p>
        </p:txBody>
      </p:sp>
      <p:sp>
        <p:nvSpPr>
          <p:cNvPr id="99" name="Shape 97"/>
          <p:cNvSpPr/>
          <p:nvPr/>
        </p:nvSpPr>
        <p:spPr>
          <a:xfrm>
            <a:off x="3749040" y="475488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49040" y="47548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914900" y="475488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14900" y="47548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080760" y="475488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80760" y="47548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7246620" y="475488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246620" y="475488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48640" y="5120640"/>
            <a:ext cx="320040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1792" y="512064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mercado</a:t>
            </a:r>
            <a:endParaRPr lang="en-US" sz="1030" dirty="0"/>
          </a:p>
        </p:txBody>
      </p:sp>
      <p:sp>
        <p:nvSpPr>
          <p:cNvPr id="109" name="Shape 107"/>
          <p:cNvSpPr/>
          <p:nvPr/>
        </p:nvSpPr>
        <p:spPr>
          <a:xfrm>
            <a:off x="3749040" y="512064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49040" y="51206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914900" y="512064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14900" y="51206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6080760" y="512064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080760" y="51206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7246620" y="5120640"/>
            <a:ext cx="1165860" cy="365760"/>
          </a:xfrm>
          <a:prstGeom prst="rect">
            <a:avLst/>
          </a:prstGeom>
          <a:solidFill>
            <a:srgbClr val="EFF1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46620" y="512064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548640" y="5486400"/>
            <a:ext cx="32004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21792" y="548640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la marca y la presentación</a:t>
            </a:r>
            <a:endParaRPr lang="en-US" sz="1030" dirty="0"/>
          </a:p>
        </p:txBody>
      </p:sp>
      <p:sp>
        <p:nvSpPr>
          <p:cNvPr id="119" name="Shape 117"/>
          <p:cNvSpPr/>
          <p:nvPr/>
        </p:nvSpPr>
        <p:spPr>
          <a:xfrm>
            <a:off x="3749040" y="54864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749040" y="54864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4914900" y="54864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914900" y="54864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6080760" y="54864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080760" y="54864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7246620" y="5486400"/>
            <a:ext cx="11658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46620" y="5486400"/>
            <a:ext cx="1165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48640" y="5852160"/>
            <a:ext cx="3200400" cy="384048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28" name="Text 126"/>
          <p:cNvSpPr/>
          <p:nvPr/>
        </p:nvSpPr>
        <p:spPr>
          <a:xfrm>
            <a:off x="621792" y="585216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(sobre 110)</a:t>
            </a:r>
            <a:endParaRPr lang="en-US" sz="1150" dirty="0"/>
          </a:p>
        </p:txBody>
      </p:sp>
      <p:sp>
        <p:nvSpPr>
          <p:cNvPr id="129" name="Shape 127"/>
          <p:cNvSpPr/>
          <p:nvPr/>
        </p:nvSpPr>
        <p:spPr>
          <a:xfrm>
            <a:off x="3749040" y="5852160"/>
            <a:ext cx="1165860" cy="384048"/>
          </a:xfrm>
          <a:prstGeom prst="rect">
            <a:avLst/>
          </a:prstGeom>
          <a:solidFill>
            <a:srgbClr val="8DC63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49040" y="5852160"/>
            <a:ext cx="1165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250" dirty="0"/>
          </a:p>
        </p:txBody>
      </p:sp>
      <p:sp>
        <p:nvSpPr>
          <p:cNvPr id="131" name="Shape 129"/>
          <p:cNvSpPr/>
          <p:nvPr/>
        </p:nvSpPr>
        <p:spPr>
          <a:xfrm>
            <a:off x="4914900" y="5852160"/>
            <a:ext cx="1165860" cy="384048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914900" y="5852160"/>
            <a:ext cx="1165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250" dirty="0"/>
          </a:p>
        </p:txBody>
      </p:sp>
      <p:sp>
        <p:nvSpPr>
          <p:cNvPr id="133" name="Shape 131"/>
          <p:cNvSpPr/>
          <p:nvPr/>
        </p:nvSpPr>
        <p:spPr>
          <a:xfrm>
            <a:off x="6080760" y="5852160"/>
            <a:ext cx="1165860" cy="384048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080760" y="5852160"/>
            <a:ext cx="1165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250" dirty="0"/>
          </a:p>
        </p:txBody>
      </p:sp>
      <p:sp>
        <p:nvSpPr>
          <p:cNvPr id="135" name="Shape 133"/>
          <p:cNvSpPr/>
          <p:nvPr/>
        </p:nvSpPr>
        <p:spPr>
          <a:xfrm>
            <a:off x="7246620" y="5852160"/>
            <a:ext cx="1165860" cy="384048"/>
          </a:xfrm>
          <a:prstGeom prst="rect">
            <a:avLst/>
          </a:prstGeom>
          <a:solidFill>
            <a:srgbClr val="3A456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246620" y="5852160"/>
            <a:ext cx="1165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250" dirty="0"/>
          </a:p>
        </p:txBody>
      </p:sp>
      <p:sp>
        <p:nvSpPr>
          <p:cNvPr id="137" name="Text 135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Jaime Caballero Madrid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F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MÉTODOS DE ENTRADA, CANALES Y ESTRATEGIA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de distribución y estrategia aplicada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66544" cy="731520"/>
          </a:xfrm>
          <a:prstGeom prst="roundRect">
            <a:avLst>
              <a:gd name="adj" fmla="val 7500"/>
            </a:avLst>
          </a:prstGeom>
          <a:solidFill>
            <a:srgbClr val="2A35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624328" y="1691640"/>
            <a:ext cx="146304" cy="274320"/>
          </a:xfrm>
          <a:prstGeom prst="rightArrow">
            <a:avLst/>
          </a:prstGeom>
          <a:solidFill>
            <a:srgbClr val="6E7BA5"/>
          </a:solidFill>
          <a:ln/>
        </p:spPr>
      </p:sp>
      <p:sp>
        <p:nvSpPr>
          <p:cNvPr id="8" name="Shape 6"/>
          <p:cNvSpPr/>
          <p:nvPr/>
        </p:nvSpPr>
        <p:spPr>
          <a:xfrm>
            <a:off x="2798064" y="1417320"/>
            <a:ext cx="2066544" cy="731520"/>
          </a:xfrm>
          <a:prstGeom prst="roundRect">
            <a:avLst>
              <a:gd name="adj" fmla="val 7500"/>
            </a:avLst>
          </a:prstGeom>
          <a:solidFill>
            <a:srgbClr val="2A3556"/>
          </a:solidFill>
          <a:ln/>
        </p:spPr>
      </p:sp>
      <p:sp>
        <p:nvSpPr>
          <p:cNvPr id="9" name="Text 7"/>
          <p:cNvSpPr/>
          <p:nvPr/>
        </p:nvSpPr>
        <p:spPr>
          <a:xfrm>
            <a:off x="2798064" y="146304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98064" y="178308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inicial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873752" y="1691640"/>
            <a:ext cx="146304" cy="274320"/>
          </a:xfrm>
          <a:prstGeom prst="rightArrow">
            <a:avLst/>
          </a:prstGeom>
          <a:solidFill>
            <a:srgbClr val="6E7BA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7488" y="1417320"/>
            <a:ext cx="2066544" cy="731520"/>
          </a:xfrm>
          <a:prstGeom prst="roundRect">
            <a:avLst>
              <a:gd name="adj" fmla="val 7500"/>
            </a:avLst>
          </a:prstGeom>
          <a:solidFill>
            <a:srgbClr val="8DC63F"/>
          </a:solidFill>
          <a:ln/>
        </p:spPr>
      </p:sp>
      <p:sp>
        <p:nvSpPr>
          <p:cNvPr id="13" name="Text 11"/>
          <p:cNvSpPr/>
          <p:nvPr/>
        </p:nvSpPr>
        <p:spPr>
          <a:xfrm>
            <a:off x="5047488" y="146304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47488" y="178308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y nacionaliza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123176" y="1691640"/>
            <a:ext cx="146304" cy="274320"/>
          </a:xfrm>
          <a:prstGeom prst="rightArrow">
            <a:avLst/>
          </a:prstGeom>
          <a:solidFill>
            <a:srgbClr val="6E7BA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96912" y="1417320"/>
            <a:ext cx="2066544" cy="731520"/>
          </a:xfrm>
          <a:prstGeom prst="roundRect">
            <a:avLst>
              <a:gd name="adj" fmla="val 7500"/>
            </a:avLst>
          </a:prstGeom>
          <a:solidFill>
            <a:srgbClr val="2A3556"/>
          </a:solidFill>
          <a:ln/>
        </p:spPr>
      </p:sp>
      <p:sp>
        <p:nvSpPr>
          <p:cNvPr id="17" name="Text 15"/>
          <p:cNvSpPr/>
          <p:nvPr/>
        </p:nvSpPr>
        <p:spPr>
          <a:xfrm>
            <a:off x="7296912" y="146304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Minorista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96912" y="178308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latinas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372600" y="1691640"/>
            <a:ext cx="146304" cy="274320"/>
          </a:xfrm>
          <a:prstGeom prst="rightArrow">
            <a:avLst/>
          </a:prstGeom>
          <a:solidFill>
            <a:srgbClr val="6E7BA5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6336" y="1417320"/>
            <a:ext cx="2066544" cy="731520"/>
          </a:xfrm>
          <a:prstGeom prst="roundRect">
            <a:avLst>
              <a:gd name="adj" fmla="val 7500"/>
            </a:avLst>
          </a:prstGeom>
          <a:solidFill>
            <a:srgbClr val="2A3556"/>
          </a:solidFill>
          <a:ln/>
        </p:spPr>
      </p:sp>
      <p:sp>
        <p:nvSpPr>
          <p:cNvPr id="21" name="Text 19"/>
          <p:cNvSpPr/>
          <p:nvPr/>
        </p:nvSpPr>
        <p:spPr>
          <a:xfrm>
            <a:off x="9546336" y="146304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546336" y="178308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Diáspora en Madrid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48640" y="2240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distribuidor </a:t>
            </a:r>
            <a:pPr indent="0" marL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—socio especializado en producto latinoamericano en Madrid— importa el contenedor, nacionaliza la mercancía, almacena y reparte a tiendas y supermercados latinos. Con eso cubre el punto más débil de la exportación directa (reducción de operaciones, 5/10), sin tocar el control de la marca.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283464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2A3D22"/>
          </a:solidFill>
          <a:ln w="15875">
            <a:solidFill>
              <a:srgbClr val="8DC6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017520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8DC63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Estrategia Internacional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Transnacional y Multidoméstica </a:t>
            </a:r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(exigirían dispersar o replicar fabricación en varios países) y </a:t>
            </a:r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</a:t>
            </a:r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(aún prematura: un solo país, sin fabricación replicada). Coincide con la operación real: </a:t>
            </a:r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decisiones centralizadas en Ecuador, exportación con adaptación mínima, distribuidor limitado a ventas.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640" y="4114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marco AAA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505200" cy="1691640"/>
          </a:xfrm>
          <a:prstGeom prst="roundRect">
            <a:avLst>
              <a:gd name="adj" fmla="val 3784"/>
            </a:avLst>
          </a:prstGeom>
          <a:solidFill>
            <a:srgbClr val="232D4E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4709160"/>
            <a:ext cx="402336" cy="40233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09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461772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166360"/>
            <a:ext cx="304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 UE 1169/2011 y trazabilidad EUDR con geolocalización antes del 30 dic. 2026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4328160" y="4480560"/>
            <a:ext cx="3505200" cy="1691640"/>
          </a:xfrm>
          <a:prstGeom prst="roundRect">
            <a:avLst>
              <a:gd name="adj" fmla="val 3784"/>
            </a:avLst>
          </a:prstGeom>
          <a:solidFill>
            <a:srgbClr val="232D4E"/>
          </a:solidFill>
          <a:ln/>
        </p:spPr>
      </p:sp>
      <p:sp>
        <p:nvSpPr>
          <p:cNvPr id="35" name="Shape 33"/>
          <p:cNvSpPr/>
          <p:nvPr/>
        </p:nvSpPr>
        <p:spPr>
          <a:xfrm>
            <a:off x="4556760" y="4709160"/>
            <a:ext cx="402336" cy="40233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36" name="Text 34"/>
          <p:cNvSpPr/>
          <p:nvPr/>
        </p:nvSpPr>
        <p:spPr>
          <a:xfrm>
            <a:off x="4556760" y="4709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05400" y="461772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56760" y="5166360"/>
            <a:ext cx="304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concentrada en Montecristi, Esmeraldas y Sto. Domingo; replicable a futuro en otros países UE con diáspora latina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8107680" y="4480560"/>
            <a:ext cx="3505200" cy="1691640"/>
          </a:xfrm>
          <a:prstGeom prst="roundRect">
            <a:avLst>
              <a:gd name="adj" fmla="val 3784"/>
            </a:avLst>
          </a:prstGeom>
          <a:solidFill>
            <a:srgbClr val="232D4E"/>
          </a:solidFill>
          <a:ln/>
        </p:spPr>
      </p:sp>
      <p:sp>
        <p:nvSpPr>
          <p:cNvPr id="40" name="Shape 38"/>
          <p:cNvSpPr/>
          <p:nvPr/>
        </p:nvSpPr>
        <p:spPr>
          <a:xfrm>
            <a:off x="8336280" y="4709160"/>
            <a:ext cx="402336" cy="402336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41" name="Text 39"/>
          <p:cNvSpPr/>
          <p:nvPr/>
        </p:nvSpPr>
        <p:spPr>
          <a:xfrm>
            <a:off x="8336280" y="4709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84920" y="461772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Arbitraje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336280" y="5166360"/>
            <a:ext cx="304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 0% (Acuerdo Multipartes) + valor cultural del origen ecuatoriano para el consumidor nostálgico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Horacio Medal Picado y Andrea Zambrano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tiene condiciones favorables para internacionalizarse: certificaciones consolidadas, arancel 0% y trayectoria desde 1968, pero debe fortalecer su organización interna (Gerencia de Negocios Internacionales).
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es el mercado óptimo: mejor combinación de arancel, riesgo país, poder adquisitivo y relación comercial ya existente.
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directa con canal distribuidor es el modelo de entrada, apalancado en el conocimiento local del socio en Madrid.
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Internacional es la aplicable hoy. El propio Trabajo 3 recomienda usar España como plataforma hacia Italia, Francia y Portugal más adelante: la ruta hacia una futura Agregación Regional.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75320" y="1600200"/>
            <a:ext cx="0" cy="384048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49640" y="20574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Hill, C. W. L., &amp; Hult, G. T. M. (2019). International business: competing in the global marketplace (Cap. 13). McGraw-Hill.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Parboteeah, K. P., &amp; Cullen, J. B. (2009). International business: strategy and the multinational company (Cap. 2). Routledge.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Buerki, Nandialath, Mohan &amp; Lizardi (2014). International market selection criteria for emerging markets.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Growth Lab (2024). Atlas of Economic Complexity.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Fabril S.A. — Plan de Internacionalización · Grupo 2 · Presenta: Todo el equipo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2026-08-18T06:11:29Z</dcterms:created>
  <dcterms:modified xsi:type="dcterms:W3CDTF">2026-08-18T06:11:29Z</dcterms:modified>
</cp:coreProperties>
</file>